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 · apertura
Buenos días. Presentaremos la Sumativa 3 del proyecto de calidad del aire en Santiago. El foco es construir y validar un modelo binario para detectar mala calidad por MP2.5 en lógica de nowcasting estación-día. En simple: no estamos prediciendo días futuros; clasificamos el riesgo contemporáneo con información disponible del mismo día, evitando fuga de MP2.5 y dejando trazabilidad completa desde S1 y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· coordinación
Esta diapositiva ordena la presentación. La clave es respetar el tiempo: Rodrigo instala el problema y luego vuelve al resultado de prueba; Pablo cubre la calidad de datos y la robustez estadística; Sergio explica la selección de modelos y cierra con la decisión operativa. No leeremos todas las tablas: mostraremos el dato concreto que justifica cada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
El problema se resume en una decisión metodológica: clasificar mala calidad por MP2.5, pero sin permitir que el modelo “haga trampa”. Partimos con 16.071 filas y, al exigir medición válida de MP2.5 y etiqueta, quedan 11.603 registros modelables, con 1.393 casos positivos, es decir una prevalencia cercana al 12%. La matriz original trae 36 columnas; replicamos el enriquecimiento de S1 y S2 para llegar a 46 variables. Además, el reporte S2 se utiliza como evidencia agregada para justificar decisiones, pero no entra como dato de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Pablo
En faltantes no asumimos que completar siempre mejora. Primero calculamos cobertura por fila desde registros horarios reales de MP2.5: el emparejamiento fue 100%. Luego comparamos tres estrategias. La mediana por mes y temporada funcionó como contexto auxiliar; la regresión redujo el NRMSE a 0,294 frente a 0,330 de la mediana. Sin embargo, casos completos retuvo prácticamente toda la muestra: 99,99% en desarrollo y 99,40% en validación, con desempeño equivalente. Por eso la decisión ejecutiva fue no introducir valores modelados de forma innecesaria. La regresión queda como contingencia si en producción cae la cobertura o si casos completos baja de 99% de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Sergio
La selección no se hizo mirando el test. Se definieron tres rutas oficiales. M1 representa el modelo de dominio con 17 variables sustentadas en S1 y S2. M2 parte desde cero e incorpora variables con criterio BIC, registrando AIC. M3 parte desde el modelo completo y elimina solo si el BIC mejora de forma relevante. Luego se comparan las nueve combinaciones de modelo y estrategia de faltantes. La combinación ganadora antes del test fue M2 con casos completos: solo 3 variables, CV PR-AUC de 0,991, recall de validación de 0,937 y F2 de 0,873. Finalmente evaluamos forma funcional con Box–Tidwell; no hubo evidencia fuerte de curvatura, por lo que se mantiene un logit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Rodrigo
Este es el resultado que más importa. Abrimos el test solo después de congelar modelo, imputación, forma funcional y umbral. En la prueba futura hay 2.155 registros, con 237 episodios positivos. Con umbral 0,260 el recall llega a 0,937: el modelo detecta 222 de 237 episodios de mala calidad. Los falsos negativos son 15 y las alertas preventivas que finalmente no fueron malas son 143. En problemas de clase minoritaria, la PR-AUC es más informativa que accuracy; aquí el resultado de prueba es PR-AUC 0,823 y ROC-AUC 0,979. La decisión privilegia no perder episodios críticos, sin disparar falsos positivos de forma descontrolada.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Pablo
Para separar desempeño predictivo de interpretación estadística, el modelo final se reajusta como GLM binomial no ponderado. Así calculamos coeficientes, odds ratios, AIC/BIC e intervalos homogéneos. Además, usamos covarianza robusta agrupada por fecha, con 1.022 clusters, porque hay dependencia temporal. La colinealidad está controlada: el VIF máximo es 1,245, muy bajo. El bootstrap fue completo: 10.000 remuestras exitosas, sin fallos y con cero parámetros inestables. Esto no convierte el modelo en causal; significa que los signos y magnitudes son estables para clasificación contemporánea. La lectura principal es predictiva: MP10 del mismo día ayuda a clasificar el estado de MP2.5, pero no se declara como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Sergio
La decisión final es M2 Forward AIC/BIC con casos completos y forma lineal. Es un modelo parsimonioso, de tres variables, con buen desempeño en test futuro y trazabilidad completa. Para operación proponemos dos umbrales: 0,260 si se prioriza F2 y recall mínimo; 0,165 si el costo de falso negativo se fija cinco veces por sobre el falso positivo. También dejamos explícito el resultado sensible de S2: probabilidad 0,0505 y variación de -17,23% bajo alternativa de normal truncada. No lo tratamos como valor operativo cerrado, sino como referencia de riesgo. La limitación central es clara: es nowcasting, no causalidad ni pronóstico a días futuros.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
Con esto cerramos la presentación. La defensa se sostiene en tres ideas: primero, el modelo evita fuga de MP2.5; segundo, las decisiones se congelaron antes de abrir el test; y tercero, el resultado es accionable como señal de alerta, no como explicación causal. Estamos disponibles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high_resolution_futuris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21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FC"/>
                </a:solidFill>
              </a:rPr>
              <a:t>Sumativa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Modelamiento predictivo binario de mala calidad por MP2.5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6656" y="23957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F2FF"/>
                </a:solidFill>
              </a:rPr>
              <a:t>Nowcasting estación-día · imputación · AIC/BIC · validación temporal · bootstrap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5358384"/>
            <a:ext cx="713232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5513832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Rodrigo Chinchón Ayala · Pablo Villalobos González · Sergio Fernández Almonacid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576986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9FF"/>
                </a:solidFill>
              </a:rPr>
              <a:t>Magíster en Ciencia de Datos e IA · UNAB · MCDI501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ejecutivo de 10 minutos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roles, evidencia y foco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El relato se organiza como una defensa metodológica: datos → faltantes → modelos → prueba futura → inferencia → decisión.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minutos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responsable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46120" y="155448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contenido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18120" y="15544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996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0:00–1:20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0299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Rodrigo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202996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Problema, objetivo, nowcasting y trazabilidad S1→S2→S3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18120" y="2029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46 variables, 11.603 registros, fuga controlada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32888"/>
            <a:ext cx="11155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88336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1:20–3:10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68833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Pablo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68833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Cobertura, MCAR/MAR/MNAR y estrategias de faltantes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26883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Cobertura por fila, mediana, regresión y retención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191256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4670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3:10–5:20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334670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Sergio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334670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Tres modelos, AIC/BIC, backward y forma funcional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18120" y="33467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M1/M2/M3, nueve combinaciones y Box–Tidwell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849624"/>
            <a:ext cx="11155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0507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5:20–7:10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40050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Rodrigo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46120" y="400507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Test final, umbral, ROC/PR y matriz de confusión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18120" y="40050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Recall=0,937; F2=0,845; PR-AUC=0,823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507992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66344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7:10–8:50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37360" y="4663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Pablo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46120" y="466344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OR, VIF, robustez, residuos y bootstrap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18120" y="46634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VIF controlado; 10.000 remuestras; 0 inestables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111556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32180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8:50–10:00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37360" y="532180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Sergio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46120" y="532180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Decisión, sensibilidad S2, limitaciones y monitoreo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18120" y="53218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P=0,0505; variación −17,23%; plan operativo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Problema, objetivo y trazabilidad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Rodrigo · 0:00–1:20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PREGUNTA MOVILIZADORA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D"/>
                </a:solidFill>
              </a:rPr>
              <a:t>¿Podemos clasificar episodios de mala calidad por MP2.5 sin usar variables que filtren directamente el objetivo?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2176272"/>
            <a:ext cx="1828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76272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3042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16.071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8952" y="266090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filas originales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651760" y="2176272"/>
            <a:ext cx="1828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176272"/>
            <a:ext cx="73152" cy="822960"/>
          </a:xfrm>
          <a:prstGeom prst="rect">
            <a:avLst/>
          </a:prstGeom>
          <a:solidFill>
            <a:srgbClr val="0F8FA8"/>
          </a:solidFill>
          <a:ln w="12700">
            <a:solidFill>
              <a:srgbClr val="0F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3042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11.603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816352" y="266090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filas modelables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709160" y="2176272"/>
            <a:ext cx="1828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176272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3042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1.393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73752" y="266090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positivos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766560" y="2176272"/>
            <a:ext cx="1828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176272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3042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12,0%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931152" y="266090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prevalencia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2011680" cy="594360"/>
          </a:xfrm>
          <a:prstGeom prst="chevron">
            <a:avLst/>
          </a:prstGeom>
          <a:solidFill>
            <a:srgbClr val="E0F2FE"/>
          </a:solidFill>
          <a:ln w="12700">
            <a:solidFill>
              <a:srgbClr val="B8DD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S1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exploración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86200" y="3794760"/>
            <a:ext cx="2011680" cy="594360"/>
          </a:xfrm>
          <a:prstGeom prst="chevron">
            <a:avLst/>
          </a:prstGeom>
          <a:solidFill>
            <a:srgbClr val="ECFDF5"/>
          </a:solidFill>
          <a:ln w="12700">
            <a:solidFill>
              <a:srgbClr val="BFE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S2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inferencia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3794760"/>
            <a:ext cx="2011680" cy="59436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1D2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886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S3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3A5D"/>
                </a:solidFill>
              </a:rPr>
              <a:t>modelo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5102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</a:rPr>
              <a:t>36 columnas físicas → 46 variables armonizadas. El reporte S2 se usa como evidencia metodológica, no como matriz de entrenamiento.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7150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2D12"/>
                </a:solidFill>
              </a:rPr>
              <a:t>Control central: MP2.5 y proxies directos quedan bloqueados para evitar fuga.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Faltantes, cobertura e imputación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Pablo · 1:20–3:10</a:t>
            </a:r>
            <a:endParaRPr lang="en-US" sz="1050" dirty="0"/>
          </a:p>
        </p:txBody>
      </p:sp>
      <p:pic>
        <p:nvPicPr>
          <p:cNvPr id="5" name="Image 0" descr="/mnt/data/chart_imputation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62179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FA8"/>
                </a:solidFill>
              </a:rPr>
              <a:t>DIAGNÓSTICO DE FALTANTES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178040" y="1234440"/>
            <a:ext cx="42519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72033"/>
                </a:solidFill>
              </a:rPr>
              <a:t>Cobertura horaria MP2.5 calculada por fila: 11.603 / 11.603 registros.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Indicador operativo: cobertura &lt;75% o menos de 18 horas válidas.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MCAR plausible para MP10; MNAR no se descarta, por eso se documenta cautela.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Comparación real: casos completos, mediana por mes/temporada y regresión.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78040" y="342900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78040" y="342900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42632" y="3557016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99,99%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42632" y="391363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retención desarrollo · completos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9418320" y="342900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418320" y="342900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82912" y="3557016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99,40%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582912" y="391363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retención validación · completos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178040" y="443484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78040" y="443484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42632" y="4562856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0,330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342632" y="491947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NRMSE mediana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9418320" y="443484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18320" y="443484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82912" y="4562856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0,294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582912" y="491947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NRMSE regresión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685800" y="57150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5D"/>
                </a:solidFill>
              </a:rPr>
              <a:t>Decisión: usar casos completos como principal; regresión queda como contingencia si baja la cobertura o retención &lt;99%.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Tres modelos oficiales y selección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Sergio · 3:10–5:20</a:t>
            </a:r>
            <a:endParaRPr lang="en-US" sz="1050" dirty="0"/>
          </a:p>
        </p:txBody>
      </p:sp>
      <p:pic>
        <p:nvPicPr>
          <p:cNvPr id="5" name="Image 0" descr="/mnt/data/chart_mode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76656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960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PROCEDIMIENTOS CONGELADOS ANTES DEL TEST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52360" y="1234440"/>
            <a:ext cx="40690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72033"/>
                </a:solidFill>
              </a:rPr>
              <a:t>M1 Dominio S1/S2: 17 variables con fundamento físico y evidencia previa.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M2 Forward AIC/BIC: parte vacío y retiene 3 variables por BIC.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M3 Backward BIC: inicia con 20, elimina 1 y termina con 19.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Nueve combinaciones: 3 modelos × 3 estrategias de faltantes.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52360" y="3429000"/>
            <a:ext cx="14173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2360" y="342900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6952" y="355701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M2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16952" y="39136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modelo final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9098280" y="3429000"/>
            <a:ext cx="14173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98280" y="3429000"/>
            <a:ext cx="73152" cy="822960"/>
          </a:xfrm>
          <a:prstGeom prst="rect">
            <a:avLst/>
          </a:prstGeom>
          <a:solidFill>
            <a:srgbClr val="0F8FA8"/>
          </a:solidFill>
          <a:ln w="12700">
            <a:solidFill>
              <a:srgbClr val="0F8F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62872" y="355701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262872" y="391363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features finales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744200" y="3429000"/>
            <a:ext cx="914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44200" y="342900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08792" y="35570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0,991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908792" y="39136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CV PR-AUC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452360" y="4480560"/>
            <a:ext cx="41148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6451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2D12"/>
                </a:solidFill>
              </a:rPr>
              <a:t>Forma funcional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635240" y="4864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Box–Tidwell: MP10 p=0,123 y viento p=0,943. Sin curvatura fuerte; se conserva forma lineal en el logit.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Resultado final en prueba futura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Rodrigo · 5:20–7:10</a:t>
            </a:r>
            <a:endParaRPr lang="en-US" sz="1050" dirty="0"/>
          </a:p>
        </p:txBody>
      </p:sp>
      <p:pic>
        <p:nvPicPr>
          <p:cNvPr id="5" name="Image 0" descr="/mnt/data/chart_final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6126480" cy="2880360"/>
          </a:xfrm>
          <a:prstGeom prst="rect">
            <a:avLst/>
          </a:prstGeom>
        </p:spPr>
      </p:pic>
      <p:pic>
        <p:nvPicPr>
          <p:cNvPr id="6" name="Image 1" descr="/mnt/data/chart_con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14400"/>
            <a:ext cx="4297680" cy="3154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4206240"/>
            <a:ext cx="18745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420624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" y="4334256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0,260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50392" y="4690872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umbral F2 + recall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2788920" y="4206240"/>
            <a:ext cx="155448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88920" y="420624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53512" y="43342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0,937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2953512" y="46908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Recall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4572000" y="4206240"/>
            <a:ext cx="13716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0" y="420624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36592" y="433425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0,845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736592" y="469087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F2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172200" y="4206240"/>
            <a:ext cx="1508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72200" y="4206240"/>
            <a:ext cx="73152" cy="822960"/>
          </a:xfrm>
          <a:prstGeom prst="rect">
            <a:avLst/>
          </a:prstGeom>
          <a:solidFill>
            <a:srgbClr val="0F8FA8"/>
          </a:solidFill>
          <a:ln w="12700">
            <a:solidFill>
              <a:srgbClr val="0F8F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36792" y="4334256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0,823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336792" y="4690872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PR-AUC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7909560" y="4206240"/>
            <a:ext cx="1508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09560" y="420624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74152" y="4334256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0,979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8074152" y="4690872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ROC-AUC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685800" y="5257800"/>
            <a:ext cx="106070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96112" y="54406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D"/>
                </a:solidFill>
              </a:rPr>
              <a:t>Lectura ejecutiva: en 2.155 casos futuros, el modelo detecta 222 de 237 episodios malos; deja 15 falsos negativos y 143 falsas alarmas.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· Inferencia, robustez y bootstrap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Pablo · 7:10–8:50</a:t>
            </a:r>
            <a:endParaRPr lang="en-US" sz="1050" dirty="0"/>
          </a:p>
        </p:txBody>
      </p:sp>
      <p:pic>
        <p:nvPicPr>
          <p:cNvPr id="5" name="Image 0" descr="/mnt/data/chart_or_pa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53035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960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CONTROLES DE ESTABILIDAD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400800" y="1234440"/>
            <a:ext cx="50292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72033"/>
                </a:solidFill>
              </a:rPr>
              <a:t>GLM no ponderado para interpretar coeficientes, AIC/BIC e intervalos.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Covarianza robusta agrupada por fecha: 1.022 clusters.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VIF controlado: 1,024 a 1,245; sin colinealidad material.</a:t>
            </a:r>
            <a:endParaRPr lang="en-US" sz="1350" dirty="0"/>
          </a:p>
          <a:p>
            <a:r>
              <a:rPr lang="en-US" sz="1350" dirty="0">
                <a:solidFill>
                  <a:srgbClr val="172033"/>
                </a:solidFill>
              </a:rPr>
              <a:t>Bootstrap: 10.000/10.000 remuestras exitosas; 0 parámetros inestables.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3337560"/>
            <a:ext cx="16002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333756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3465576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100%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65392" y="382219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bootstrap exitoso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8229600" y="3337560"/>
            <a:ext cx="16916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333756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192" y="3465576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38221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parámetros inestables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149840" y="3337560"/>
            <a:ext cx="132588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49840" y="333756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14432" y="3465576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1,245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314432" y="3822192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VIF máximo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400800" y="4343400"/>
            <a:ext cx="50749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4526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Cautela inferencial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47731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72033"/>
                </a:solidFill>
              </a:rPr>
              <a:t>La asociación se interpreta como predictiva, no causal. MP10 opera como proxy contemporáneo del mismo día.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23A5D"/>
          </a:solidFill>
          <a:ln w="12700">
            <a:solidFill>
              <a:srgbClr val="123A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· Decisión final, sensibilidad y monitoreo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173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Sergio · 8:50–10:00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25603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96012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8813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M2 + completos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14447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modelo operativo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29000" y="96012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960120"/>
            <a:ext cx="73152" cy="822960"/>
          </a:xfrm>
          <a:prstGeom prst="rect">
            <a:avLst/>
          </a:prstGeom>
          <a:solidFill>
            <a:srgbClr val="0F8FA8"/>
          </a:solidFill>
          <a:ln w="12700">
            <a:solidFill>
              <a:srgbClr val="0F8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0881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0,260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93592" y="14447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umbral operativo F2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577840" y="96012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96012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0881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0,165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742432" y="14447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umbral por costo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26680" y="960120"/>
            <a:ext cx="19202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960120"/>
            <a:ext cx="73152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10881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P=0,0505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891272" y="14447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sensibilidad S2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875520" y="960120"/>
            <a:ext cx="16002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3EF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96012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0112" y="1088136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5D"/>
                </a:solidFill>
              </a:rPr>
              <a:t>−17,23%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040112" y="14447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alternativa truncada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530352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3957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5D"/>
                </a:solidFill>
              </a:rPr>
              <a:t>Qué se entrega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2788920"/>
            <a:ext cx="4709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172033"/>
                </a:solidFill>
              </a:rPr>
              <a:t>Modelo congelado sin mirar test.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Estrategia principal: casos completos.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Contingencia: regresión si baja cobertura o retención.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Métricas, umbrales, matriz de confusión, OR, IC robustos y bootstrap.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6355080" y="2148840"/>
            <a:ext cx="5120640" cy="2880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3957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</a:rPr>
              <a:t>Qué queda limitado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788920"/>
            <a:ext cx="45720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172033"/>
                </a:solidFill>
              </a:rPr>
              <a:t>Nowcasting, no pronóstico futuro ni causalidad.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Monitorear deriva, calibración Platt, recall y desempeño territorial.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Recalibrar costos FP/FN con criterio operativo real.</a:t>
            </a:r>
            <a:endParaRPr lang="en-US" sz="1340" dirty="0"/>
          </a:p>
          <a:p>
            <a:r>
              <a:rPr lang="en-US" sz="1340" dirty="0">
                <a:solidFill>
                  <a:srgbClr val="172033"/>
                </a:solidFill>
              </a:rPr>
              <a:t>Resultado S2 se conserva como sensibilidad, no como valor final cerrado.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731520" y="565099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D"/>
                </a:solidFill>
              </a:rPr>
              <a:t>Cierre: el modelo es técnicamente defendible, parsimonioso y auditable; listo para uso como señal de alerta, con monitoreo explícito.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Sumativa 3 · MP2.5 · MCDI501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high_resolution_futuris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7315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 mensajes para defender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183794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5D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hay fuga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F2FF"/>
                </a:solidFill>
              </a:rPr>
              <a:t>MP2.5 y proxies directos se bloquean; MP10 queda solo para nowcasting contemporáneo.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00837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5D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54480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 decisión fue pre-test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3182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F2FF"/>
                </a:solidFill>
              </a:rPr>
              <a:t>Modelo, imputación, umbral y forma funcional se congelan antes de abrir prueba.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4032504"/>
            <a:ext cx="566928" cy="566928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417880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5D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4480" y="4014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 accionable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43525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F2FF"/>
                </a:solidFill>
              </a:rPr>
              <a:t>Recall 0,937 y F2 0,845 en prueba futura, con monitoreo de deriva y calibración.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Gracias.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Sumativa 3 · Modelamiento predictivo binario MP2.5</dc:title>
  <dc:subject>Sumativa 3 - Modelamiento predictivo binario MP2.5</dc:subject>
  <dc:creator>OpenAI</dc:creator>
  <cp:lastModifiedBy>OpenAI</cp:lastModifiedBy>
  <cp:revision>1</cp:revision>
  <dcterms:created xsi:type="dcterms:W3CDTF">2026-07-13T02:46:37Z</dcterms:created>
  <dcterms:modified xsi:type="dcterms:W3CDTF">2026-07-13T02:46:37Z</dcterms:modified>
</cp:coreProperties>
</file>